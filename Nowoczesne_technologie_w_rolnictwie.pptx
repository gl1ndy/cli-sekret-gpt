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BBEB9"/>
                </a:solidFill>
                <a:latin typeface="Aptos"/>
              </a:defRPr>
            </a:pPr>
            <a:r>
              <a:t>NOWOCZESNE TECHNOLOGIE W ROLNICTWIE                                      01 / 18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914400"/>
            <a:ext cx="310896" cy="4389120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45552" y="1170432"/>
            <a:ext cx="310896" cy="4069080"/>
          </a:xfrm>
          <a:prstGeom prst="rect">
            <a:avLst/>
          </a:prstGeom>
          <a:solidFill>
            <a:srgbClr val="1B3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75904" y="914400"/>
            <a:ext cx="310896" cy="3749039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06256" y="1170432"/>
            <a:ext cx="310896" cy="4389120"/>
          </a:xfrm>
          <a:prstGeom prst="rect">
            <a:avLst/>
          </a:prstGeom>
          <a:solidFill>
            <a:srgbClr val="1B3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36608" y="914400"/>
            <a:ext cx="310896" cy="4069080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66960" y="1170432"/>
            <a:ext cx="310896" cy="3749039"/>
          </a:xfrm>
          <a:prstGeom prst="rect">
            <a:avLst/>
          </a:prstGeom>
          <a:solidFill>
            <a:srgbClr val="1B3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497312" y="914400"/>
            <a:ext cx="310896" cy="4389120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6035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85CF6F"/>
                </a:solidFill>
                <a:latin typeface="Aptos"/>
              </a:defRPr>
            </a:pPr>
            <a:r>
              <a:t>ROLNICTWO 4.0  /  PREZENTACJA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00200"/>
            <a:ext cx="6766560" cy="1828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2F7F1"/>
                </a:solidFill>
                <a:latin typeface="Aptos"/>
              </a:defRPr>
            </a:pPr>
            <a:r>
              <a:t>NOWOCZESNE</a:t>
            </a:r>
          </a:p>
          <a:p>
            <a:pPr>
              <a:spcAft>
                <a:spcPts val="800"/>
              </a:spcAft>
              <a:defRPr sz="3400" b="1">
                <a:solidFill>
                  <a:srgbClr val="F2F7F1"/>
                </a:solidFill>
                <a:latin typeface="Aptos"/>
              </a:defRPr>
            </a:pPr>
            <a:r>
              <a:t>TECHNOLOGIE</a:t>
            </a:r>
          </a:p>
          <a:p>
            <a:pPr>
              <a:spcAft>
                <a:spcPts val="800"/>
              </a:spcAft>
              <a:defRPr sz="3400" b="1">
                <a:solidFill>
                  <a:srgbClr val="F2F7F1"/>
                </a:solidFill>
                <a:latin typeface="Aptos"/>
              </a:defRPr>
            </a:pPr>
            <a:r>
              <a:t>W ROLNICTWIE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39"/>
            <a:ext cx="612648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BBEB9"/>
                </a:solidFill>
                <a:latin typeface="Aptos"/>
              </a:defRPr>
            </a:pPr>
            <a:r>
              <a:t>Drony • inteligentne maszyny • oszczędzanie wody i energii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074920"/>
            <a:ext cx="2834640" cy="82296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5239512"/>
            <a:ext cx="50292" cy="49377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5239512"/>
            <a:ext cx="245059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2F7F1"/>
                </a:solidFill>
                <a:latin typeface="Aptos"/>
              </a:defRPr>
            </a:pPr>
            <a:r>
              <a:t>AUTOR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5733288"/>
            <a:ext cx="2450592" cy="45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BBEB9"/>
                </a:solidFill>
                <a:latin typeface="Aptos"/>
              </a:defRPr>
            </a:pPr>
            <a:r>
              <a:t>Imię i nazwisko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5074920"/>
            <a:ext cx="2834640" cy="82296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4760" y="5239512"/>
            <a:ext cx="50292" cy="493776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95928" y="5239512"/>
            <a:ext cx="245059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2F7F1"/>
                </a:solidFill>
                <a:latin typeface="Aptos"/>
              </a:defRPr>
            </a:pPr>
            <a:r>
              <a:t>AUTOR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95928" y="5733288"/>
            <a:ext cx="2450592" cy="45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BBEB9"/>
                </a:solidFill>
                <a:latin typeface="Aptos"/>
              </a:defRPr>
            </a:pPr>
            <a:r>
              <a:t>Imię i nazwisko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806440"/>
            <a:ext cx="3931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BE871"/>
                </a:solidFill>
                <a:latin typeface="Aptos"/>
              </a:defRPr>
            </a:pPr>
            <a:r>
              <a:t>Jak technologia zmienia pracę na polu?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BBEB9"/>
                </a:solidFill>
                <a:latin typeface="Aptos"/>
              </a:defRPr>
            </a:pPr>
            <a:r>
              <a:t>NOWOCZESNE TECHNOLOGIE W ROLNICTWIE                                      02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5CF6F"/>
                </a:solidFill>
                <a:latin typeface="Aptos"/>
              </a:defRPr>
            </a:pPr>
            <a:r>
              <a:t>01 / WPROWADZENIE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7F1"/>
                </a:solidFill>
                <a:latin typeface="Aptos"/>
              </a:defRPr>
            </a:pPr>
            <a:r>
              <a:t>Rolnictwo wchodzi w erę danych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Nowoczesne gospodarstwo łączy wiedzę rolnika z pomiarami, automatyką i analizą danych.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3474720" cy="246888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313432"/>
            <a:ext cx="50292" cy="213969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313432"/>
            <a:ext cx="309067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01 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807208"/>
            <a:ext cx="3090672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Drony, kamery i czujniki pokazują, co naprawdę dzieje się na polu.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148840"/>
            <a:ext cx="3474720" cy="246888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313432"/>
            <a:ext cx="50292" cy="2139696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13432"/>
            <a:ext cx="309067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02  AUTOMATYZACJA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07208"/>
            <a:ext cx="3090672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GPS, roboty i maszyny sterowane komputerowo wykonują pracę dokładniej.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48840"/>
            <a:ext cx="3474720" cy="246888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313432"/>
            <a:ext cx="50292" cy="2139696"/>
          </a:xfrm>
          <a:prstGeom prst="rect">
            <a:avLst/>
          </a:prstGeom>
          <a:solidFill>
            <a:srgbClr val="5BB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313432"/>
            <a:ext cx="309067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03  ZASOBY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807208"/>
            <a:ext cx="3090672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Inteligentne nawadnianie i zarządzanie energią ograniczają straty.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66360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CBE871"/>
                </a:solidFill>
                <a:latin typeface="Aptos"/>
              </a:defRPr>
            </a:pPr>
            <a:r>
              <a:t>Cel: produkować efektywniej, zużywając mniej zasobów i lepiej chroniąc środowisko.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BBEB9"/>
                </a:solidFill>
                <a:latin typeface="Aptos"/>
              </a:defRPr>
            </a:pPr>
            <a:r>
              <a:t>NOWOCZESNE TECHNOLOGIE W ROLNICTWIE                                      03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5CF6F"/>
                </a:solidFill>
                <a:latin typeface="Aptos"/>
              </a:defRPr>
            </a:pPr>
            <a:r>
              <a:t>02 / KONTEKST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7F1"/>
                </a:solidFill>
                <a:latin typeface="Aptos"/>
              </a:defRPr>
            </a:pPr>
            <a:r>
              <a:t>Dlaczego rolnictwo potrzebuje technologii?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Rolnik musi podejmować trafne decyzje mimo zmiennej pogody, kosztów i presji na środowisko.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429000" cy="224028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76272"/>
            <a:ext cx="50292" cy="191109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ZMIANY KLIMATU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044952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Susze, fale upałów i gwałtowne opady utrudniają planowanie.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429000" cy="224028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76272"/>
            <a:ext cx="50292" cy="1911096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176272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KOSZTY PRODUKCJI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670048"/>
            <a:ext cx="3044952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Paliwo, nawozy, środki ochrony roślin i energia są istotną częścią budżetu.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429000" cy="224028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176272"/>
            <a:ext cx="50292" cy="1911096"/>
          </a:xfrm>
          <a:prstGeom prst="rect">
            <a:avLst/>
          </a:prstGeom>
          <a:solidFill>
            <a:srgbClr val="5BB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176272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PRECYZJA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670048"/>
            <a:ext cx="3044952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Jedno pole nie jest jednorodne — różne fragmenty potrzebują różnej pielęgnacji.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1033272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F2F7F1"/>
                </a:solidFill>
                <a:latin typeface="Aptos"/>
              </a:defRPr>
            </a:pPr>
            <a:r>
              <a:t>Odpowiedź: rolnictwo precyzyjne — właściwe działanie, we właściwym miejscu i czasie.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BBEB9"/>
                </a:solidFill>
                <a:latin typeface="Aptos"/>
              </a:defRPr>
            </a:pPr>
            <a:r>
              <a:t>NOWOCZESNE TECHNOLOGIE W ROLNICTWIE                                      04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5CF6F"/>
                </a:solidFill>
                <a:latin typeface="Aptos"/>
              </a:defRPr>
            </a:pPr>
            <a:r>
              <a:t>03 / PODSTAWY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7F1"/>
                </a:solidFill>
                <a:latin typeface="Aptos"/>
              </a:defRPr>
            </a:pPr>
            <a:r>
              <a:t>Czym jest rolnictwo precyzyjne?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To sposób zarządzania gospodarstwem na podstawie danych, a nie wyłącznie uśrednionych założeń.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77440"/>
            <a:ext cx="2331720" cy="160020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542032"/>
            <a:ext cx="50292" cy="127101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42032"/>
            <a:ext cx="194767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2F7F1"/>
                </a:solidFill>
                <a:latin typeface="Aptos"/>
              </a:defRPr>
            </a:pPr>
            <a:r>
              <a:t>POMIAR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035808"/>
            <a:ext cx="1947672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ABBEB9"/>
                </a:solidFill>
                <a:latin typeface="Aptos"/>
              </a:defRPr>
            </a:pPr>
            <a:r>
              <a:t>czujniki, drony,</a:t>
            </a:r>
          </a:p>
          <a:p>
            <a:pPr>
              <a:spcAft>
                <a:spcPts val="800"/>
              </a:spcAft>
              <a:defRPr sz="1300" b="0">
                <a:solidFill>
                  <a:srgbClr val="ABBEB9"/>
                </a:solidFill>
                <a:latin typeface="Aptos"/>
              </a:defRPr>
            </a:pPr>
            <a:r>
              <a:t>satelity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2852928"/>
            <a:ext cx="411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2500" b="1">
                <a:solidFill>
                  <a:srgbClr val="CBE87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377440"/>
            <a:ext cx="2331720" cy="160020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2542032"/>
            <a:ext cx="50292" cy="1271016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7328" y="2542032"/>
            <a:ext cx="194767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2F7F1"/>
                </a:solidFill>
                <a:latin typeface="Aptos"/>
              </a:defRPr>
            </a:pPr>
            <a:r>
              <a:t>ANALIZA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3035808"/>
            <a:ext cx="1947672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ABBEB9"/>
                </a:solidFill>
                <a:latin typeface="Aptos"/>
              </a:defRPr>
            </a:pPr>
            <a:r>
              <a:t>mapy, AI,</a:t>
            </a:r>
          </a:p>
          <a:p>
            <a:pPr>
              <a:spcAft>
                <a:spcPts val="800"/>
              </a:spcAft>
              <a:defRPr sz="1300" b="0">
                <a:solidFill>
                  <a:srgbClr val="ABBEB9"/>
                </a:solidFill>
                <a:latin typeface="Aptos"/>
              </a:defRPr>
            </a:pPr>
            <a:r>
              <a:t>oprogramowanie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2852928"/>
            <a:ext cx="411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2500" b="1">
                <a:solidFill>
                  <a:srgbClr val="CBE87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377440"/>
            <a:ext cx="2331720" cy="160020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2542032"/>
            <a:ext cx="50292" cy="1271016"/>
          </a:xfrm>
          <a:prstGeom prst="rect">
            <a:avLst/>
          </a:prstGeom>
          <a:solidFill>
            <a:srgbClr val="5BB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542032"/>
            <a:ext cx="194767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2F7F1"/>
                </a:solidFill>
                <a:latin typeface="Aptos"/>
              </a:defRPr>
            </a:pPr>
            <a:r>
              <a:t>DECYZJA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3035808"/>
            <a:ext cx="1947672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ABBEB9"/>
                </a:solidFill>
                <a:latin typeface="Aptos"/>
              </a:defRPr>
            </a:pPr>
            <a:r>
              <a:t>gdzie i ile</a:t>
            </a:r>
          </a:p>
          <a:p>
            <a:pPr>
              <a:spcAft>
                <a:spcPts val="800"/>
              </a:spcAft>
              <a:defRPr sz="1300" b="0">
                <a:solidFill>
                  <a:srgbClr val="ABBEB9"/>
                </a:solidFill>
                <a:latin typeface="Aptos"/>
              </a:defRPr>
            </a:pPr>
            <a:r>
              <a:t>zastosować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2248" y="2852928"/>
            <a:ext cx="411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2500" b="1">
                <a:solidFill>
                  <a:srgbClr val="CBE87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2377440"/>
            <a:ext cx="2331720" cy="160020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26880" y="2542032"/>
            <a:ext cx="50292" cy="127101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8048" y="2542032"/>
            <a:ext cx="194767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2F7F1"/>
                </a:solidFill>
                <a:latin typeface="Aptos"/>
              </a:defRPr>
            </a:pPr>
            <a:r>
              <a:t>DZIAŁANIE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3035808"/>
            <a:ext cx="1947672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ABBEB9"/>
                </a:solidFill>
                <a:latin typeface="Aptos"/>
              </a:defRPr>
            </a:pPr>
            <a:r>
              <a:t>maszyna lub</a:t>
            </a:r>
          </a:p>
          <a:p>
            <a:pPr>
              <a:spcAft>
                <a:spcPts val="800"/>
              </a:spcAft>
              <a:defRPr sz="1300" b="0">
                <a:solidFill>
                  <a:srgbClr val="ABBEB9"/>
                </a:solidFill>
                <a:latin typeface="Aptos"/>
              </a:defRPr>
            </a:pPr>
            <a:r>
              <a:t>system nawadniania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754880"/>
            <a:ext cx="1042416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BBEB9"/>
                </a:solidFill>
                <a:latin typeface="Aptos"/>
              </a:defRPr>
            </a:pPr>
            <a:r>
              <a:t>Przykład: zamiast nawozić całe pole jednakowo, rolnik dostosowuje dawkę do potrzeb konkretnej strefy.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BBEB9"/>
                </a:solidFill>
                <a:latin typeface="Aptos"/>
              </a:defRPr>
            </a:pPr>
            <a:r>
              <a:t>NOWOCZESNE TECHNOLOGIE W ROLNICTWIE                                      05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5CF6F"/>
                </a:solidFill>
                <a:latin typeface="Aptos"/>
              </a:defRPr>
            </a:pPr>
            <a:r>
              <a:t>04 / DRONY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7F1"/>
                </a:solidFill>
                <a:latin typeface="Aptos"/>
              </a:defRPr>
            </a:pPr>
            <a:r>
              <a:t>Drony monitorujące uprawy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Bezzałogowe statki powietrzne pozwalają szybko obserwować duże powierzchnie pól.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3429000" cy="237744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30552"/>
            <a:ext cx="50292" cy="204825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30552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KAMERA RGB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24328"/>
            <a:ext cx="3044952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Wykonuje zdjęcia widoczne gołym okiem. Pomaga ocenić wschody, uszkodzenia i nierównomierny wzrost.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65960"/>
            <a:ext cx="3429000" cy="237744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30552"/>
            <a:ext cx="50292" cy="2048256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130552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SENSOR MULTISPEKTRALNY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624328"/>
            <a:ext cx="3044952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Rejestruje pasma światła niewidoczne dla człowieka. Ułatwia wykrywanie stresu roślin.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965960"/>
            <a:ext cx="3429000" cy="237744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130552"/>
            <a:ext cx="50292" cy="2048256"/>
          </a:xfrm>
          <a:prstGeom prst="rect">
            <a:avLst/>
          </a:prstGeom>
          <a:solidFill>
            <a:srgbClr val="5BB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130552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TERMOWIZJA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624328"/>
            <a:ext cx="3044952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Pokazuje różnice temperatur, które mogą wskazywać m.in. na problemy z nawodnieniem.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92040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CBE871"/>
                </a:solidFill>
                <a:latin typeface="Aptos"/>
              </a:defRPr>
            </a:pPr>
            <a:r>
              <a:t>Dron nie zastępuje lustracji pola — pomaga szybciej wskazać miejsca wymagające sprawdzenia.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BBEB9"/>
                </a:solidFill>
                <a:latin typeface="Aptos"/>
              </a:defRPr>
            </a:pPr>
            <a:r>
              <a:t>NOWOCZESNE TECHNOLOGIE W ROLNICTWIE                                      06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5CF6F"/>
                </a:solidFill>
                <a:latin typeface="Aptos"/>
              </a:defRPr>
            </a:pPr>
            <a:r>
              <a:t>05 / DRONY W PRAKTYCE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7F1"/>
                </a:solidFill>
                <a:latin typeface="Aptos"/>
              </a:defRPr>
            </a:pPr>
            <a:r>
              <a:t>Od lotu do konkretnej decyzji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Największa wartość powstaje wtedy, gdy zdjęcia zostaną połączone z analizą i wiedzą rolnika.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2514600" cy="224028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21992"/>
            <a:ext cx="50292" cy="191109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21992"/>
            <a:ext cx="21305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2F7F1"/>
                </a:solidFill>
                <a:latin typeface="Aptos"/>
              </a:defRPr>
            </a:pPr>
            <a:r>
              <a:t>1. 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15768"/>
            <a:ext cx="2130552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ABBEB9"/>
                </a:solidFill>
                <a:latin typeface="Aptos"/>
              </a:defRPr>
            </a:pPr>
            <a:r>
              <a:t>Dron wykonuje zaplanowany przelot i zbiera obrazy pola.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057400"/>
            <a:ext cx="2514600" cy="224028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221992"/>
            <a:ext cx="50292" cy="1911096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2221992"/>
            <a:ext cx="21305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2F7F1"/>
                </a:solidFill>
                <a:latin typeface="Aptos"/>
              </a:defRPr>
            </a:pPr>
            <a:r>
              <a:t>2. MAPA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715768"/>
            <a:ext cx="2130552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ABBEB9"/>
                </a:solidFill>
                <a:latin typeface="Aptos"/>
              </a:defRPr>
            </a:pPr>
            <a:r>
              <a:t>Oprogramowanie łączy zdjęcia w mapę i wyznacza strefy różnic.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057400"/>
            <a:ext cx="2514600" cy="224028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221992"/>
            <a:ext cx="50292" cy="1911096"/>
          </a:xfrm>
          <a:prstGeom prst="rect">
            <a:avLst/>
          </a:prstGeom>
          <a:solidFill>
            <a:srgbClr val="5BB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2221992"/>
            <a:ext cx="21305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2F7F1"/>
                </a:solidFill>
                <a:latin typeface="Aptos"/>
              </a:defRPr>
            </a:pPr>
            <a:r>
              <a:t>3. DIAGNOZA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715768"/>
            <a:ext cx="2130552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ABBEB9"/>
                </a:solidFill>
                <a:latin typeface="Aptos"/>
              </a:defRPr>
            </a:pPr>
            <a:r>
              <a:t>Rolnik sprawdza podejrzane miejsca i szuka przyczyny problemu.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2057400"/>
            <a:ext cx="2514600" cy="224028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23960" y="2221992"/>
            <a:ext cx="50292" cy="191109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5128" y="2221992"/>
            <a:ext cx="21305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2F7F1"/>
                </a:solidFill>
                <a:latin typeface="Aptos"/>
              </a:defRPr>
            </a:pPr>
            <a:r>
              <a:t>4. REAKCJA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5128" y="2715768"/>
            <a:ext cx="2130552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ABBEB9"/>
                </a:solidFill>
                <a:latin typeface="Aptos"/>
              </a:defRPr>
            </a:pPr>
            <a:r>
              <a:t>Zabieg jest wykonywany punktowo, tam gdzie jest potrzebny.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92040"/>
            <a:ext cx="103327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ABBEB9"/>
                </a:solidFill>
                <a:latin typeface="Aptos"/>
              </a:defRPr>
            </a:pPr>
            <a:r>
              <a:t>Przykłady zastosowań: wykrywanie luk w uprawie • ocena kondycji roślin • lokalizacja ognisk chorób.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BBEB9"/>
                </a:solidFill>
                <a:latin typeface="Aptos"/>
              </a:defRPr>
            </a:pPr>
            <a:r>
              <a:t>NOWOCZESNE TECHNOLOGIE W ROLNICTWIE                                      07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5CF6F"/>
                </a:solidFill>
                <a:latin typeface="Aptos"/>
              </a:defRPr>
            </a:pPr>
            <a:r>
              <a:t>06 / ANALIZA OBRAZU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7F1"/>
                </a:solidFill>
                <a:latin typeface="Aptos"/>
              </a:defRPr>
            </a:pPr>
            <a:r>
              <a:t>Rośliny można „zobaczyć” przez 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Indeksy wegetacyjne pomagają oceniać kondycję roślin na podstawie odbicia światła.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5074920" cy="237744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21992"/>
            <a:ext cx="50292" cy="204825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21992"/>
            <a:ext cx="469087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2F7F1"/>
                </a:solidFill>
                <a:latin typeface="Aptos"/>
              </a:defRPr>
            </a:pPr>
            <a:r>
              <a:t>NDVI — WSKAŹNIK WEGETACJI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15768"/>
            <a:ext cx="4690872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Porównuje odbicie światła czerwonego i bliskiej podczerwieni. Może wskazywać różnice w pokryciu i wigorze roślin.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2057400"/>
            <a:ext cx="5074920" cy="237744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2221992"/>
            <a:ext cx="50292" cy="2048256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2221992"/>
            <a:ext cx="469087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2F7F1"/>
                </a:solidFill>
                <a:latin typeface="Aptos"/>
              </a:defRPr>
            </a:pPr>
            <a:r>
              <a:t>WAŻNE OGRANICZENIE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2715768"/>
            <a:ext cx="4690872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Niski wynik nie mówi sam w sobie, jaka jest przyczyna. Potrzebna jest weryfikacja w terenie: gleby, wody, chorób lub uszkodzeń.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10332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CBE871"/>
                </a:solidFill>
                <a:latin typeface="Aptos"/>
              </a:defRPr>
            </a:pPr>
            <a:r>
              <a:t>Dane z drona są wskazówką diagnostyczną, a nie gotową diagnozą.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BBEB9"/>
                </a:solidFill>
                <a:latin typeface="Aptos"/>
              </a:defRPr>
            </a:pPr>
            <a:r>
              <a:t>NOWOCZESNE TECHNOLOGIE W ROLNICTWIE                                      08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5CF6F"/>
                </a:solidFill>
                <a:latin typeface="Aptos"/>
              </a:defRPr>
            </a:pPr>
            <a:r>
              <a:t>07 / MASZYNY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7F1"/>
                </a:solidFill>
                <a:latin typeface="Aptos"/>
              </a:defRPr>
            </a:pPr>
            <a:r>
              <a:t>Inteligentne maszyny rolnicze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Nowoczesny ciągnik lub kombajn to dziś także komputer, system nawigacji i zestaw czujników.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3429000" cy="228600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76272"/>
            <a:ext cx="50292" cy="195681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76272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GPS / GNSS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70048"/>
            <a:ext cx="3044952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Prowadzenie po zaplanowanych ścieżkach ogranicza nakładanie przejazdów i omijanie fragmentów pola.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429000" cy="228600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76272"/>
            <a:ext cx="50292" cy="1956816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176272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AUTOSTEROWANIE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670048"/>
            <a:ext cx="3044952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System może sam utrzymywać tor jazdy, a operator nadzoruje pracę maszyny.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011680"/>
            <a:ext cx="3429000" cy="228600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176272"/>
            <a:ext cx="50292" cy="1956816"/>
          </a:xfrm>
          <a:prstGeom prst="rect">
            <a:avLst/>
          </a:prstGeom>
          <a:solidFill>
            <a:srgbClr val="5BB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176272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TELEMETRIA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670048"/>
            <a:ext cx="3044952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Czujniki przekazują dane o pracy, zużyciu paliwa, wydajności i stanie technicznym.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46320"/>
            <a:ext cx="105156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2F7F1"/>
                </a:solidFill>
                <a:latin typeface="Aptos"/>
              </a:defRPr>
            </a:pPr>
            <a:r>
              <a:t>Efekt: mniej błędów, większa powtarzalność i lepsze wykorzystanie czasu pracy.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BBEB9"/>
                </a:solidFill>
                <a:latin typeface="Aptos"/>
              </a:defRPr>
            </a:pPr>
            <a:r>
              <a:t>NOWOCZESNE TECHNOLOGIE W ROLNICTWIE                                      09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5CF6F"/>
                </a:solidFill>
                <a:latin typeface="Aptos"/>
              </a:defRPr>
            </a:pPr>
            <a:r>
              <a:t>08 / PRECYZJA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7F1"/>
                </a:solidFill>
                <a:latin typeface="Aptos"/>
              </a:defRPr>
            </a:pPr>
            <a:r>
              <a:t>Maszyny, które dostosowują dawkę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Technologia zmiennego dawkowania (VRA) dopasowuje ilość nawozu lub materiału siewnego do warunków w danej strefie.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3017520" cy="1325880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3017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0A1923"/>
                </a:solidFill>
                <a:latin typeface="Aptos"/>
              </a:defRPr>
            </a:pPr>
            <a:r>
              <a:t>STREFA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30175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F2F7F1"/>
                </a:solidFill>
                <a:latin typeface="Aptos"/>
              </a:defRPr>
            </a:pPr>
            <a:r>
              <a:t>mniejsza dawka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286000"/>
            <a:ext cx="3017520" cy="1325880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697480"/>
            <a:ext cx="3017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0A1923"/>
                </a:solidFill>
                <a:latin typeface="Aptos"/>
              </a:defRPr>
            </a:pPr>
            <a:r>
              <a:t>STREFA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794760"/>
            <a:ext cx="30175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F2F7F1"/>
                </a:solidFill>
                <a:latin typeface="Aptos"/>
              </a:defRPr>
            </a:pPr>
            <a:r>
              <a:t>średnia dawka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2286000"/>
            <a:ext cx="3017520" cy="1325880"/>
          </a:xfrm>
          <a:prstGeom prst="rect">
            <a:avLst/>
          </a:prstGeom>
          <a:solidFill>
            <a:srgbClr val="5BB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2697480"/>
            <a:ext cx="3017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0A1923"/>
                </a:solidFill>
                <a:latin typeface="Aptos"/>
              </a:defRPr>
            </a:pPr>
            <a:r>
              <a:t>STREFA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794760"/>
            <a:ext cx="30175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F2F7F1"/>
                </a:solidFill>
                <a:latin typeface="Aptos"/>
              </a:defRPr>
            </a:pPr>
            <a:r>
              <a:t>większa dawka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1042416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CBE871"/>
                </a:solidFill>
                <a:latin typeface="Aptos"/>
              </a:defRPr>
            </a:pPr>
            <a:r>
              <a:t>Mapa pola + dane o glebie i roślinach → sterownik maszyny → odpowiednia dawka w danym miejscu.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BBEB9"/>
                </a:solidFill>
                <a:latin typeface="Aptos"/>
              </a:defRPr>
            </a:pPr>
            <a:r>
              <a:t>NOWOCZESNE TECHNOLOGIE W ROLNICTWIE                                      10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5CF6F"/>
                </a:solidFill>
                <a:latin typeface="Aptos"/>
              </a:defRPr>
            </a:pPr>
            <a:r>
              <a:t>09 / ROBOTYKA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7F1"/>
                </a:solidFill>
                <a:latin typeface="Aptos"/>
              </a:defRPr>
            </a:pPr>
            <a:r>
              <a:t>Roboty i autonomiczne pojazdy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Automatyzacja obejmuje nie tylko ciągniki, ale też małe roboty wykonujące powtarzalne zadania.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3429000" cy="242316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30552"/>
            <a:ext cx="50292" cy="209397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30552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ROBOTY DO PIELENIA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24328"/>
            <a:ext cx="3044952" cy="1645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Rozpoznają rzędy roślin i mechanicznie usuwają chwasty, ograniczając potrzebę zabiegów chemicznych.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65960"/>
            <a:ext cx="3429000" cy="242316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30552"/>
            <a:ext cx="50292" cy="2093976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130552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AUTONOMICZNE CIĄGNIKI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624328"/>
            <a:ext cx="3044952" cy="1645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Mogą realizować zaplanowane przejazdy pod nadzorem operatora i systemów bezpieczeństwa.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965960"/>
            <a:ext cx="3429000" cy="242316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130552"/>
            <a:ext cx="50292" cy="2093976"/>
          </a:xfrm>
          <a:prstGeom prst="rect">
            <a:avLst/>
          </a:prstGeom>
          <a:solidFill>
            <a:srgbClr val="5BB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130552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ROBOTY ZBIERAJĄCE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624328"/>
            <a:ext cx="3044952" cy="1645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Wykorzystują kamery i algorytmy do rozpoznawania dojrzałych owoców oraz precyzyjnego zbioru.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10332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ABBEB9"/>
                </a:solidFill>
                <a:latin typeface="Aptos"/>
              </a:defRPr>
            </a:pPr>
            <a:r>
              <a:t>Roboty są szczególnie przydatne przy zadaniach powtarzalnych, czasochłonnych i wymagających precyzji.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BBEB9"/>
                </a:solidFill>
                <a:latin typeface="Aptos"/>
              </a:defRPr>
            </a:pPr>
            <a:r>
              <a:t>NOWOCZESNE TECHNOLOGIE W ROLNICTWIE                                      11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5CF6F"/>
                </a:solidFill>
                <a:latin typeface="Aptos"/>
              </a:defRPr>
            </a:pPr>
            <a:r>
              <a:t>10 / SZTUCZNA INTELIGENCJA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7F1"/>
                </a:solidFill>
                <a:latin typeface="Aptos"/>
              </a:defRPr>
            </a:pPr>
            <a:r>
              <a:t>AI i czujniki — cyfrowy mózg gospodarstwa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Systemy zbierają informacje z pola i pomagają przewidywać problemy, zanim staną się poważne.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429000" cy="237744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76272"/>
            <a:ext cx="50292" cy="204825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CZUJNIKI GLEBOWE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044952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Mierzą wilgotność, temperaturę, a wybrane modele także zasolenie lub poziom składników.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429000" cy="237744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76272"/>
            <a:ext cx="50292" cy="2048256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176272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AI / ANALIZA DANYCH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670048"/>
            <a:ext cx="3044952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Łączy pomiary, pogodę i obrazy, by wykrywać wzorce oraz wspierać decyzje.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429000" cy="237744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176272"/>
            <a:ext cx="50292" cy="2048256"/>
          </a:xfrm>
          <a:prstGeom prst="rect">
            <a:avLst/>
          </a:prstGeom>
          <a:solidFill>
            <a:srgbClr val="5BB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176272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ALERTY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670048"/>
            <a:ext cx="3044952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Rolnik otrzymuje powiadomienie np. o ryzyku przymrozku, suszy lub awarii.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92040"/>
            <a:ext cx="105156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CBE871"/>
                </a:solidFill>
                <a:latin typeface="Aptos"/>
              </a:defRPr>
            </a:pPr>
            <a:r>
              <a:t>AI wspiera decyzję — odpowiedzialność za ocenę sytuacji i działanie nadal należy do człowieka.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BBEB9"/>
                </a:solidFill>
                <a:latin typeface="Aptos"/>
              </a:defRPr>
            </a:pPr>
            <a:r>
              <a:t>NOWOCZESNE TECHNOLOGIE W ROLNICTWIE                                      12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5CF6F"/>
                </a:solidFill>
                <a:latin typeface="Aptos"/>
              </a:defRPr>
            </a:pPr>
            <a:r>
              <a:t>11 / WODA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7F1"/>
                </a:solidFill>
                <a:latin typeface="Aptos"/>
              </a:defRPr>
            </a:pPr>
            <a:r>
              <a:t>Inteligentne systemy oszczędzania wody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Zamiast podlewać według stałego harmonogramu, system może reagować na rzeczywiste potrzeby roślin.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3429000" cy="242316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30552"/>
            <a:ext cx="50292" cy="209397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30552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CZUJNIKI WILGOTNOŚCI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24328"/>
            <a:ext cx="3044952" cy="1645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Mierzą ilość wody w glebie na różnych głębokościach i przekazują dane do sterownika.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65960"/>
            <a:ext cx="3429000" cy="242316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30552"/>
            <a:ext cx="50292" cy="2093976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130552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NAWADNIANIE KROPELKOWE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624328"/>
            <a:ext cx="3044952" cy="1645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Dostarcza wodę blisko korzeni, ograniczając straty przez parowanie i spływ.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965960"/>
            <a:ext cx="3429000" cy="242316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130552"/>
            <a:ext cx="50292" cy="2093976"/>
          </a:xfrm>
          <a:prstGeom prst="rect">
            <a:avLst/>
          </a:prstGeom>
          <a:solidFill>
            <a:srgbClr val="5BB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130552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AUTOMATYCZNE STEROWANIE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624328"/>
            <a:ext cx="3044952" cy="1645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Uwzględnia wilgotność, prognozę pogody i potrzeby uprawy, by uruchamiać nawadnianie wtedy, gdy ma sens.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83480"/>
            <a:ext cx="104241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2F7F1"/>
                </a:solidFill>
                <a:latin typeface="Aptos"/>
              </a:defRPr>
            </a:pPr>
            <a:r>
              <a:t>Najważniejsza zasada: podlewać tyle, ile potrzeba — nie więcej i nie według przyzwyczajenia.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BBEB9"/>
                </a:solidFill>
                <a:latin typeface="Aptos"/>
              </a:defRPr>
            </a:pPr>
            <a:r>
              <a:t>NOWOCZESNE TECHNOLOGIE W ROLNICTWIE                                      13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5CF6F"/>
                </a:solidFill>
                <a:latin typeface="Aptos"/>
              </a:defRPr>
            </a:pPr>
            <a:r>
              <a:t>12 / JAK TO DZIAŁA?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7F1"/>
                </a:solidFill>
                <a:latin typeface="Aptos"/>
              </a:defRPr>
            </a:pPr>
            <a:r>
              <a:t>Przykład: pole, które samo „prosi” o wodę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Prosty obieg informacji pokazuje, jak czujniki mogą współpracować z instalacją nawadniającą.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2331720" cy="164592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587752"/>
            <a:ext cx="50292" cy="131673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587752"/>
            <a:ext cx="194767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2F7F1"/>
                </a:solidFill>
                <a:latin typeface="Aptos"/>
              </a:defRPr>
            </a:pPr>
            <a:r>
              <a:t>CZUJNIK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081528"/>
            <a:ext cx="1947672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sprawdza wilgotność gleby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944368"/>
            <a:ext cx="3657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CBE87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2423160"/>
            <a:ext cx="2331720" cy="164592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39" y="2587752"/>
            <a:ext cx="50292" cy="1316736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7" y="2587752"/>
            <a:ext cx="194767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2F7F1"/>
                </a:solidFill>
                <a:latin typeface="Aptos"/>
              </a:defRPr>
            </a:pPr>
            <a:r>
              <a:t>STEROWNIK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7" y="3081528"/>
            <a:ext cx="1947672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porównuje wynik z progiem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6168" y="2944368"/>
            <a:ext cx="3657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CBE87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423160"/>
            <a:ext cx="2331720" cy="164592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587752"/>
            <a:ext cx="50292" cy="1316736"/>
          </a:xfrm>
          <a:prstGeom prst="rect">
            <a:avLst/>
          </a:prstGeom>
          <a:solidFill>
            <a:srgbClr val="5BB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2587752"/>
            <a:ext cx="194767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2F7F1"/>
                </a:solidFill>
                <a:latin typeface="Aptos"/>
              </a:defRPr>
            </a:pPr>
            <a:r>
              <a:t>ZAWÓR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081528"/>
            <a:ext cx="1947672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otwiera przepływ wody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2944368"/>
            <a:ext cx="3657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CBE87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59" y="2423160"/>
            <a:ext cx="2331720" cy="164592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59" y="2587752"/>
            <a:ext cx="50292" cy="131673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2328" y="2587752"/>
            <a:ext cx="194767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2F7F1"/>
                </a:solidFill>
                <a:latin typeface="Aptos"/>
              </a:defRPr>
            </a:pPr>
            <a:r>
              <a:t>KONTROLA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3081528"/>
            <a:ext cx="1947672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system kończy podlewanie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00600"/>
            <a:ext cx="1024128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ABBEB9"/>
                </a:solidFill>
                <a:latin typeface="Aptos"/>
              </a:defRPr>
            </a:pPr>
            <a:r>
              <a:t>Dodatkowy zysk: zdalny podgląd, wykrywanie wycieków i lepsze planowanie zużycia energii przez pompy.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BBEB9"/>
                </a:solidFill>
                <a:latin typeface="Aptos"/>
              </a:defRPr>
            </a:pPr>
            <a:r>
              <a:t>NOWOCZESNE TECHNOLOGIE W ROLNICTWIE                                      14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5CF6F"/>
                </a:solidFill>
                <a:latin typeface="Aptos"/>
              </a:defRPr>
            </a:pPr>
            <a:r>
              <a:t>13 / 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7F1"/>
                </a:solidFill>
                <a:latin typeface="Aptos"/>
              </a:defRPr>
            </a:pPr>
            <a:r>
              <a:t>Jak gospodarstwo może oszczędzać energię?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Oszczędność wynika zarówno z wydajniejszych urządzeń, jak i lepszego planowania ich pracy.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3429000" cy="237744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30552"/>
            <a:ext cx="50292" cy="204825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30552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FOTOWOLTAIKA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24328"/>
            <a:ext cx="3044952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Panele słoneczne mogą zasilać budynki, pompy, chłodnie lub ładowarki maszyn.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65960"/>
            <a:ext cx="3429000" cy="237744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30552"/>
            <a:ext cx="50292" cy="2048256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130552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MAGAZYN ENERGII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624328"/>
            <a:ext cx="3044952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Akumulatory przechowują część energii na później, np. na wieczorne zużycie.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965960"/>
            <a:ext cx="3429000" cy="237744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130552"/>
            <a:ext cx="50292" cy="2048256"/>
          </a:xfrm>
          <a:prstGeom prst="rect">
            <a:avLst/>
          </a:prstGeom>
          <a:solidFill>
            <a:srgbClr val="5BB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130552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INTELIGENTNE STEROWANIE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624328"/>
            <a:ext cx="3044952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System przesuwa energochłonne zadania na godziny, gdy energia jest tańsza lub dostępna z własnej instalacji.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92040"/>
            <a:ext cx="105156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CBE871"/>
                </a:solidFill>
                <a:latin typeface="Aptos"/>
              </a:defRPr>
            </a:pPr>
            <a:r>
              <a:t>Przykłady: automatyka wentylacji • wydajne pompy • LED w budynkach • monitoring zużycia.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BBEB9"/>
                </a:solidFill>
                <a:latin typeface="Aptos"/>
              </a:defRPr>
            </a:pPr>
            <a:r>
              <a:t>NOWOCZESNE TECHNOLOGIE W ROLNICTWIE                                      15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5CF6F"/>
                </a:solidFill>
                <a:latin typeface="Aptos"/>
              </a:defRPr>
            </a:pPr>
            <a:r>
              <a:t>14 / POŁĄCZONE TECHNOLOGIE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7F1"/>
                </a:solidFill>
                <a:latin typeface="Aptos"/>
              </a:defRPr>
            </a:pPr>
            <a:r>
              <a:t>Gospodarstwo jako jeden inteligentny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Największy efekt daje współpraca urządzeń — od pomiaru na polu po decyzję i wykonanie zabiegu.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3337560" cy="233172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67712"/>
            <a:ext cx="50292" cy="200253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67712"/>
            <a:ext cx="295351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DANE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61487"/>
            <a:ext cx="2953512" cy="15544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Drony, satelity, czujniki gleby i maszyny dostarczają informacji.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03120"/>
            <a:ext cx="3337560" cy="233172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267712"/>
            <a:ext cx="50292" cy="2002536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2267712"/>
            <a:ext cx="295351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PLATFORMA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761487"/>
            <a:ext cx="2953512" cy="15544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Program łączy dane, tworzy mapy i pomaga zaplanować działania.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103120"/>
            <a:ext cx="3337560" cy="233172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267712"/>
            <a:ext cx="50292" cy="2002536"/>
          </a:xfrm>
          <a:prstGeom prst="rect">
            <a:avLst/>
          </a:prstGeom>
          <a:solidFill>
            <a:srgbClr val="5BB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2267712"/>
            <a:ext cx="295351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WYKONANIE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761487"/>
            <a:ext cx="2953512" cy="15544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Ciągnik, opryskiwacz lub nawadnianie realizują zadanie precyzyjnie.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10332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To właśnie połączenie IoT, GPS, analityki i automatyki tworzy koncepcję „Smart Farming”.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BBEB9"/>
                </a:solidFill>
                <a:latin typeface="Aptos"/>
              </a:defRPr>
            </a:pPr>
            <a:r>
              <a:t>NOWOCZESNE TECHNOLOGIE W ROLNICTWIE                                      16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5CF6F"/>
                </a:solidFill>
                <a:latin typeface="Aptos"/>
              </a:defRPr>
            </a:pPr>
            <a:r>
              <a:t>15 / OCENA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7F1"/>
                </a:solidFill>
                <a:latin typeface="Aptos"/>
              </a:defRPr>
            </a:pPr>
            <a:r>
              <a:t>Korzyści i wyzwania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Technologia nie rozwiązuje wszystkich problemów — musi być dobrana do wielkości i potrzeb gospodarstwa.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5074920" cy="292608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30552"/>
            <a:ext cx="50292" cy="259689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30552"/>
            <a:ext cx="469087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2F7F1"/>
                </a:solidFill>
                <a:latin typeface="Aptos"/>
              </a:defRPr>
            </a:pPr>
            <a:r>
              <a:t>KORZYŚCI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24328"/>
            <a:ext cx="4690872" cy="2148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• mniejsze zużycie wody, paliwa i nawozów</a:t>
            </a:r>
          </a:p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• szybsze wykrywanie problemów</a:t>
            </a:r>
          </a:p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• dokładniejsze zabiegi i mniej strat</a:t>
            </a:r>
          </a:p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• łatwiejsze planowanie pracy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965960"/>
            <a:ext cx="5074920" cy="292608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2130552"/>
            <a:ext cx="50292" cy="2596896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2130552"/>
            <a:ext cx="469087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2F7F1"/>
                </a:solidFill>
                <a:latin typeface="Aptos"/>
              </a:defRPr>
            </a:pPr>
            <a:r>
              <a:t>WYZWANIA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2624328"/>
            <a:ext cx="4690872" cy="2148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• wysoki koszt zakupu i serwisu</a:t>
            </a:r>
          </a:p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• potrzeba szkoleń i umiejętności cyfrowych</a:t>
            </a:r>
          </a:p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• zasięg internetu na terenach wiejskich</a:t>
            </a:r>
          </a:p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• kompatybilność urządzeń i bezpieczeństwo danych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CBE871"/>
                </a:solidFill>
                <a:latin typeface="Aptos"/>
              </a:defRPr>
            </a:pPr>
            <a:r>
              <a:t>Najlepsza inwestycja to ta, która rozwiązuje konkretny problem i zwraca się w praktyce.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BBEB9"/>
                </a:solidFill>
                <a:latin typeface="Aptos"/>
              </a:defRPr>
            </a:pPr>
            <a:r>
              <a:t>NOWOCZESNE TECHNOLOGIE W ROLNICTWIE                                      17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5CF6F"/>
                </a:solidFill>
                <a:latin typeface="Aptos"/>
              </a:defRPr>
            </a:pPr>
            <a:r>
              <a:t>16 / PRZYSZŁOŚĆ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7F1"/>
                </a:solidFill>
                <a:latin typeface="Aptos"/>
              </a:defRPr>
            </a:pPr>
            <a:r>
              <a:t>Rolnictwo przyszłości: precyzyjne, połączone, odpowiedzialne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Kolejny etap to coraz lepsza współpraca maszyn, danych i człowieka.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3429000" cy="242316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30552"/>
            <a:ext cx="50292" cy="209397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30552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WIĘCEJ AUTONOMII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24328"/>
            <a:ext cx="3044952" cy="1645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Roboty będą przejmować kolejne powtarzalne zadania, a rolnik skupi się na nadzorze i decyzjach.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65960"/>
            <a:ext cx="3429000" cy="242316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30552"/>
            <a:ext cx="50292" cy="2093976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130552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LEPSZE PROGNOZY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624328"/>
            <a:ext cx="3044952" cy="1645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AI będzie łączyć dane pogodowe, satelitarne i polowe, by wcześniej ostrzegać przed zagrożeniami.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965960"/>
            <a:ext cx="3429000" cy="2423160"/>
          </a:xfrm>
          <a:prstGeom prst="roundRect">
            <a:avLst/>
          </a:prstGeom>
          <a:solidFill>
            <a:srgbClr val="142B35"/>
          </a:solidFill>
          <a:ln>
            <a:solidFill>
              <a:srgbClr val="1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130552"/>
            <a:ext cx="50292" cy="2093976"/>
          </a:xfrm>
          <a:prstGeom prst="rect">
            <a:avLst/>
          </a:prstGeom>
          <a:solidFill>
            <a:srgbClr val="5BB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130552"/>
            <a:ext cx="3044952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MNIEJ STRAT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624328"/>
            <a:ext cx="3044952" cy="1645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BBEB9"/>
                </a:solidFill>
                <a:latin typeface="Aptos"/>
              </a:defRPr>
            </a:pPr>
            <a:r>
              <a:t>Precyzyjne dawkowanie i zarządzanie zasobami mogą ograniczać koszty oraz presję na środowisko.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1033272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F2F7F1"/>
                </a:solidFill>
                <a:latin typeface="Aptos"/>
              </a:defRPr>
            </a:pPr>
            <a:r>
              <a:t>Wniosek: nowoczesne rolnictwo nie polega na zastąpieniu rolnika maszyną, lecz na daniu mu lepszych narzędzi do podejmowania decyzji.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5C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BBEB9"/>
                </a:solidFill>
                <a:latin typeface="Aptos"/>
              </a:defRPr>
            </a:pPr>
            <a:r>
              <a:t>NOWOCZESNE TECHNOLOGIE W ROLNICTWIE                                      18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5CF6F"/>
                </a:solidFill>
                <a:latin typeface="Aptos"/>
              </a:defRPr>
            </a:pPr>
            <a:r>
              <a:t>17 / ŹRÓDŁA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2F7F1"/>
                </a:solidFill>
                <a:latin typeface="Aptos"/>
              </a:defRPr>
            </a:pPr>
            <a:r>
              <a:t>Źródła i materiały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BBEB9"/>
                </a:solidFill>
                <a:latin typeface="Aptos"/>
              </a:defRPr>
            </a:pPr>
            <a:r>
              <a:t>Opracowanie własne na podstawie materiałów instytucji europejskich i organizacji międzynarodowych.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2F7F1"/>
                </a:solidFill>
                <a:latin typeface="Aptos"/>
              </a:defRPr>
            </a:pPr>
            <a:r>
              <a:t>Komisja Europejska — Digitalising the EU agricultural sector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39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BB3C4"/>
                </a:solidFill>
                <a:latin typeface="Aptos"/>
              </a:defRPr>
            </a:pPr>
            <a:r>
              <a:t>https://digital-strategy.ec.europa.eu/en/policies/digitalisation-agriculture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87752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2F7F1"/>
                </a:solidFill>
                <a:latin typeface="Aptos"/>
              </a:defRPr>
            </a:pPr>
            <a:r>
              <a:t>Komisja Europejska — Digital transition in agriculture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62072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BB3C4"/>
                </a:solidFill>
                <a:latin typeface="Aptos"/>
              </a:defRPr>
            </a:pPr>
            <a:r>
              <a:t>https://agriculture.ec.europa.eu/vision-overview/research-innovation/digital-transition_en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00984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2F7F1"/>
                </a:solidFill>
                <a:latin typeface="Aptos"/>
              </a:defRPr>
            </a:pPr>
            <a:r>
              <a:t>EU CAP Network — Sensing the future (2026)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75303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BB3C4"/>
                </a:solidFill>
                <a:latin typeface="Aptos"/>
              </a:defRPr>
            </a:pPr>
            <a:r>
              <a:t>https://eu-cap-network.ec.europa.eu/publications/factsheet-sensing-future-practical-applications-proximal-and-remote-sensing_en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14215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2F7F1"/>
                </a:solidFill>
                <a:latin typeface="Aptos"/>
              </a:defRPr>
            </a:pPr>
            <a:r>
              <a:t>FAO — Smart Farming: the next revolution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88536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BB3C4"/>
                </a:solidFill>
                <a:latin typeface="Aptos"/>
              </a:defRPr>
            </a:pPr>
            <a:r>
              <a:t>https://www.fao.org/land-water/home/smart-farming---the-next-revolution-of-agrifood-systems/en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27448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2F7F1"/>
                </a:solidFill>
                <a:latin typeface="Aptos"/>
              </a:defRPr>
            </a:pPr>
            <a:r>
              <a:t>European Environment Agency — Precision agriculture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01768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BB3C4"/>
                </a:solidFill>
                <a:latin typeface="Aptos"/>
              </a:defRPr>
            </a:pPr>
            <a:r>
              <a:t>https://climate-adapt.eea.europa.eu/pl/metadata/adaptation-options/precision-agriculture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5000"/>
            <a:ext cx="10424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CBE871"/>
                </a:solidFill>
                <a:latin typeface="Aptos"/>
              </a:defRPr>
            </a:pPr>
            <a:r>
              <a:t>Dziękujemy za uwagę!  •  Pytania?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